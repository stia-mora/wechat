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849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7C160"/>
                </a:solidFill>
                <a:latin typeface="Microsoft YaHei"/>
              </a:defRPr>
            </a:pPr>
            <a:r>
              <a:t>WECHAT SOURCE · ACCESS OBSERVATORY</a:t>
            </a:r>
          </a:p>
          <a:p>
            <a:pPr>
              <a:spcAft>
                <a:spcPts val="1600"/>
              </a:spcAft>
              <a:defRPr sz="3600" b="1">
                <a:solidFill>
                  <a:srgbClr val="F0F6FC"/>
                </a:solidFill>
                <a:latin typeface="Microsoft YaHei"/>
              </a:defRPr>
            </a:pPr>
            <a:r>
              <a:t>微信公众号发现平台</a:t>
            </a:r>
            <a:br/>
            <a:r>
              <a:t>流量来源全景分析报告</a:t>
            </a:r>
          </a:p>
          <a:p>
            <a:pPr>
              <a:spcAft>
                <a:spcPts val="2800"/>
              </a:spcAft>
              <a:defRPr sz="1500">
                <a:solidFill>
                  <a:srgbClr val="38BDF8"/>
                </a:solidFill>
                <a:latin typeface="Microsoft YaHei"/>
              </a:defRPr>
            </a:pPr>
            <a:r>
              <a:t>解析用户来源渠道、AI 爬虫渗透特征、访客地域分布与内容偏好洞察</a:t>
            </a:r>
          </a:p>
          <a:p>
            <a:pPr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统计周期：2026.10.06 - 2026.10.10  |  观测源站：wechat.aim888888.xyz  |  样本量：4,597 请求 / 757 PV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EXECUTIVE SUMMARY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大盘运行总览：高粘性与多渠道驱动增长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全站请求、有效页面浏览与访客去重指标全貌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2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42032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7627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浏览器有效浏览 (PV)</a:t>
            </a:r>
          </a:p>
          <a:p>
            <a:pPr>
              <a:spcBef>
                <a:spcPts val="400"/>
              </a:spcBef>
              <a:defRPr sz="3800" b="1">
                <a:solidFill>
                  <a:srgbClr val="07C160"/>
                </a:solidFill>
              </a:defRPr>
            </a:pPr>
            <a:r>
              <a:t>757</a:t>
            </a:r>
          </a:p>
          <a:p>
            <a:pPr>
              <a:defRPr sz="1000">
                <a:solidFill>
                  <a:srgbClr val="F0F6FC"/>
                </a:solidFill>
              </a:defRPr>
            </a:pPr>
            <a:r>
              <a:t>次页面浏览</a:t>
            </a:r>
          </a:p>
          <a:p>
            <a:pPr>
              <a:spcBef>
                <a:spcPts val="600"/>
              </a:spcBef>
              <a:defRPr sz="850">
                <a:solidFill>
                  <a:srgbClr val="6E7681"/>
                </a:solidFill>
              </a:defRPr>
            </a:pPr>
            <a:r>
              <a:t>真实前端探针上报，排除机器请求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600200"/>
            <a:ext cx="217627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累计估算访客 (UV)</a:t>
            </a:r>
          </a:p>
          <a:p>
            <a:pPr>
              <a:spcBef>
                <a:spcPts val="400"/>
              </a:spcBef>
              <a:defRPr sz="3800" b="1">
                <a:solidFill>
                  <a:srgbClr val="38BDF8"/>
                </a:solidFill>
              </a:defRPr>
            </a:pPr>
            <a:r>
              <a:t>181</a:t>
            </a:r>
          </a:p>
          <a:p>
            <a:pPr>
              <a:defRPr sz="1000">
                <a:solidFill>
                  <a:srgbClr val="F0F6FC"/>
                </a:solidFill>
              </a:defRPr>
            </a:pPr>
            <a:r>
              <a:t>位独立访客</a:t>
            </a:r>
          </a:p>
          <a:p>
            <a:pPr>
              <a:spcBef>
                <a:spcPts val="600"/>
              </a:spcBef>
              <a:defRPr sz="850">
                <a:solidFill>
                  <a:srgbClr val="6E7681"/>
                </a:solidFill>
              </a:defRPr>
            </a:pPr>
            <a:r>
              <a:t>按日去重汇总，10.10达 67 UV/日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42032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600200"/>
            <a:ext cx="217627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人均访问深度 (PV/UV)</a:t>
            </a:r>
          </a:p>
          <a:p>
            <a:pPr>
              <a:spcBef>
                <a:spcPts val="400"/>
              </a:spcBef>
              <a:defRPr sz="3800" b="1">
                <a:solidFill>
                  <a:srgbClr val="F59E0B"/>
                </a:solidFill>
              </a:defRPr>
            </a:pPr>
            <a:r>
              <a:t>4.18</a:t>
            </a:r>
          </a:p>
          <a:p>
            <a:pPr>
              <a:defRPr sz="1000">
                <a:solidFill>
                  <a:srgbClr val="F0F6FC"/>
                </a:solidFill>
              </a:defRPr>
            </a:pPr>
            <a:r>
              <a:t>页 / 每访客</a:t>
            </a:r>
          </a:p>
          <a:p>
            <a:pPr>
              <a:spcBef>
                <a:spcPts val="600"/>
              </a:spcBef>
              <a:defRPr sz="850">
                <a:solidFill>
                  <a:srgbClr val="6E7681"/>
                </a:solidFill>
              </a:defRPr>
            </a:pPr>
            <a:r>
              <a:t>极高内容粘性，多层级探索显著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42032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600200"/>
            <a:ext cx="217627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公开 HTTP 请求</a:t>
            </a:r>
          </a:p>
          <a:p>
            <a:pPr>
              <a:spcBef>
                <a:spcPts val="400"/>
              </a:spcBef>
              <a:defRPr sz="3800" b="1">
                <a:solidFill>
                  <a:srgbClr val="A855F7"/>
                </a:solidFill>
              </a:defRPr>
            </a:pPr>
            <a:r>
              <a:t>4,597</a:t>
            </a:r>
          </a:p>
          <a:p>
            <a:pPr>
              <a:defRPr sz="1000">
                <a:solidFill>
                  <a:srgbClr val="F0F6FC"/>
                </a:solidFill>
              </a:defRPr>
            </a:pPr>
            <a:r>
              <a:t>次源站响应</a:t>
            </a:r>
          </a:p>
          <a:p>
            <a:pPr>
              <a:spcBef>
                <a:spcPts val="600"/>
              </a:spcBef>
              <a:defRPr sz="850">
                <a:solidFill>
                  <a:srgbClr val="6E7681"/>
                </a:solidFill>
              </a:defRPr>
            </a:pPr>
            <a:r>
              <a:t>涵盖爬虫、浏览器请求与自动化工具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303520" cy="2468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访问趋势爆发 (PV/日)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2026.10.06 - 10.10 阶梯走势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7C160"/>
                </a:solidFill>
              </a:defRPr>
            </a:pPr>
            <a:r>
              <a:t>10月10日 (今日)   290 PV  (38.3%)</a:t>
            </a:r>
          </a:p>
          <a:p>
            <a:pPr>
              <a:spcBef>
                <a:spcPts val="300"/>
              </a:spcBef>
              <a:defRPr sz="1100" b="1">
                <a:solidFill>
                  <a:srgbClr val="38BDF8"/>
                </a:solidFill>
              </a:defRPr>
            </a:pPr>
            <a:r>
              <a:t>10月09日 (峰值)   375 PV  (49.5%)</a:t>
            </a:r>
          </a:p>
          <a:p>
            <a:pPr>
              <a:spcBef>
                <a:spcPts val="300"/>
              </a:spcBef>
              <a:defRPr sz="1100" b="1">
                <a:solidFill>
                  <a:srgbClr val="F59E0B"/>
                </a:solidFill>
              </a:defRPr>
            </a:pPr>
            <a:r>
              <a:t>10月08日 (爬坡)    89 PV  (11.8%)</a:t>
            </a:r>
          </a:p>
          <a:p>
            <a:pPr>
              <a:spcBef>
                <a:spcPts val="300"/>
              </a:spcBef>
              <a:defRPr sz="1100" b="1">
                <a:solidFill>
                  <a:srgbClr val="8B949E"/>
                </a:solidFill>
              </a:defRPr>
            </a:pPr>
            <a:r>
              <a:t>10月06日 (上线基线)     3 PV  (0.4%)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242255" cy="2468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30752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三大核心增长特征总结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战略分析要点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87649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F0F6FC"/>
                </a:solidFill>
              </a:defRPr>
            </a:pPr>
            <a:r>
              <a:t>• 1. 开源与开发者社区爆发：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GitHub 引荐占据外部引荐流量的 93.1%，带来高价值技术种子用户。</a:t>
            </a:r>
          </a:p>
          <a:p>
            <a:pPr>
              <a:spcBef>
                <a:spcPts val="400"/>
              </a:spcBef>
              <a:defRPr sz="1050" b="1">
                <a:solidFill>
                  <a:srgbClr val="F0F6FC"/>
                </a:solidFill>
              </a:defRPr>
            </a:pPr>
            <a:r>
              <a:t>• 2. 极高的站内互动黏性：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人均访问 4.18 个页面，从首页无缝延伸至分类页、排行榜与搜索页。</a:t>
            </a:r>
          </a:p>
          <a:p>
            <a:pPr>
              <a:spcBef>
                <a:spcPts val="400"/>
              </a:spcBef>
              <a:defRPr sz="1050" b="1">
                <a:solidFill>
                  <a:srgbClr val="F0F6FC"/>
                </a:solidFill>
              </a:defRPr>
            </a:pPr>
            <a:r>
              <a:t>• 3. 强烈的 AI 智能体检索需求：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已识别 93 次大模型爬虫抓取，ChatGPT/Claude/Perplexity 实时引流。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CHANNEL DECONSTRUCTION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流量来源渠道拆解：内生流转与 GitHub 强势领跑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从外部引荐域名到站内页面流转的完整链路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3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全站访问来源分类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按浏览器上报 PV 统计 (基数 757)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9319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07C160"/>
                </a:solidFill>
              </a:defRPr>
            </a:pPr>
            <a:r>
              <a:t>站内深度流转 · 552 PV (72.9%)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说明：用户在微信公众号列表、发现、分类间穿梭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外部引荐流量 · 145 PV (19.2%)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说明：GitHub 为首的技术社区与外部外链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直接访问 / 书签 · 59 PV (7.8%)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说明：无 Referrer 传递，直接输入网址或聊天窗口</a:t>
            </a:r>
          </a:p>
          <a:p>
            <a:pPr>
              <a:spcBef>
                <a:spcPts val="800"/>
              </a:spcBef>
              <a:defRPr sz="1200" b="1">
                <a:solidFill>
                  <a:srgbClr val="A855F7"/>
                </a:solidFill>
              </a:defRPr>
            </a:pPr>
            <a:r>
              <a:t>搜索引擎 (Bing) · 1 PV (0.1%)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说明：自然搜索起步阶段，仍具巨大 SEO 潜能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156655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627632"/>
            <a:ext cx="5790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外部引荐来源明细 (External Referrals)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GitHub 占据绝对压倒性第一 (93.1%)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057400"/>
            <a:ext cx="56692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• github.com   [核心主阵地]   135 次   占比 93.1%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    洞察：开源项目 README / Release 链接引流，极客核心受众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• weixin110.qq.com   [微信生态]   3 次   占比 2.1%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    洞察：微信聊天/朋友圈外链打开时触发微信拦截或中转页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• iohub.inshub.cn   [垂直导航]   3 次   占比 2.1%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    洞察：极客与独立开发者资讯聚合/导航站引荐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• shalom-lab.github.io   [个人博客]   2 次   占比 1.4%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    洞察：技术博主文章内嵌引用推荐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• link.zhihu.com   [知乎问答]   1 次   占比 0.7%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    洞察：知乎技术或公号讨论文章的外链点击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• dev.summhub.com   [AI聚合]   1 次   占比 0.7%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    洞察：AI/资讯总结工具站外链引用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AI &amp; AGENT OBSERVATION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AI 智能体渗透：全球大模型正在高频索引与调用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共监测到 93 次 AI 抓取，涵盖 OpenAI、Perplexity、Claude 等顶尖矩阵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4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42032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677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B949E"/>
                </a:solidFill>
              </a:defRPr>
            </a:pPr>
            <a:r>
              <a:t>已识别 AI 请求</a:t>
            </a:r>
          </a:p>
          <a:p>
            <a:pPr>
              <a:defRPr sz="2400" b="1">
                <a:solidFill>
                  <a:srgbClr val="07C160"/>
                </a:solidFill>
              </a:defRPr>
            </a:pPr>
            <a:r>
              <a:t>93</a:t>
            </a:r>
          </a:p>
          <a:p>
            <a:pPr>
              <a:defRPr sz="850">
                <a:solidFill>
                  <a:srgbClr val="6E7681"/>
                </a:solidFill>
              </a:defRPr>
            </a:pPr>
            <a:r>
              <a:t>次主动/被动抓取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554480"/>
            <a:ext cx="22677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B949E"/>
                </a:solidFill>
              </a:defRPr>
            </a:pPr>
            <a:r>
              <a:t>覆盖主流模型家族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18</a:t>
            </a:r>
          </a:p>
          <a:p>
            <a:pPr>
              <a:defRPr sz="850">
                <a:solidFill>
                  <a:srgbClr val="6E7681"/>
                </a:solidFill>
              </a:defRPr>
            </a:pPr>
            <a:r>
              <a:t>款权威 AI 爬虫/Agent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42032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554480"/>
            <a:ext cx="22677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B949E"/>
                </a:solidFill>
              </a:defRPr>
            </a:pPr>
            <a:r>
              <a:t>用户实时召唤比例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32.3%</a:t>
            </a:r>
          </a:p>
          <a:p>
            <a:pPr>
              <a:defRPr sz="850">
                <a:solidFill>
                  <a:srgbClr val="6E7681"/>
                </a:solidFill>
              </a:defRPr>
            </a:pPr>
            <a:r>
              <a:t>30次 -User 代理实时请求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42032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554480"/>
            <a:ext cx="22677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B949E"/>
                </a:solidFill>
              </a:defRPr>
            </a:pPr>
            <a:r>
              <a:t>AI 搜索生态排名</a:t>
            </a:r>
          </a:p>
          <a:p>
            <a:pPr>
              <a:defRPr sz="2400" b="1">
                <a:solidFill>
                  <a:srgbClr val="A855F7"/>
                </a:solidFill>
              </a:defRPr>
            </a:pPr>
            <a:r>
              <a:t>Top 1</a:t>
            </a:r>
          </a:p>
          <a:p>
            <a:pPr>
              <a:defRPr sz="850">
                <a:solidFill>
                  <a:srgbClr val="6E7681"/>
                </a:solidFill>
              </a:defRPr>
            </a:pPr>
            <a:r>
              <a:t>OpenAI + Perplexity 领跑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548640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9923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AI 爬虫家族构成排行榜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按请求量排序 (总计 93 次)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1100" b="1">
                <a:solidFill>
                  <a:srgbClr val="07C160"/>
                </a:solidFill>
              </a:defRPr>
            </a:pPr>
            <a:r>
              <a:t>OpenAI 矩阵 (35次 / 37.6%)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└ ChatGPT-User (16), OAI-SearchBot (14), GPTBot (5)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t>Perplexity 矩阵 (20次 / 21.5%)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└ PerplexityBot (13), Perplexity-User (7)</a:t>
            </a:r>
          </a:p>
          <a:p>
            <a:pPr>
              <a:spcBef>
                <a:spcPts val="400"/>
              </a:spcBef>
              <a:defRPr sz="1100" b="1">
                <a:solidFill>
                  <a:srgbClr val="A855F7"/>
                </a:solidFill>
              </a:defRPr>
            </a:pPr>
            <a:r>
              <a:t>Anthropic Claude (16次 / 17.2%)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└ Claude-User (7), Claude-SearchBot (7), ClaudeBot (2)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Meta 矩阵 (8次 / 8.6%)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└ meta-externalagent (7), FacebookBot (1)</a:t>
            </a:r>
          </a:p>
          <a:p>
            <a:pPr>
              <a:spcBef>
                <a:spcPts val="400"/>
              </a:spcBef>
              <a:defRPr sz="1100" b="1">
                <a:solidFill>
                  <a:srgbClr val="F0F6FC"/>
                </a:solidFill>
              </a:defRPr>
            </a:pPr>
            <a:r>
              <a:t>You.com (6次 / 6.5%)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└ YouBot (6) 语义搜索抓取</a:t>
            </a:r>
          </a:p>
          <a:p>
            <a:pPr>
              <a:spcBef>
                <a:spcPts val="400"/>
              </a:spcBef>
              <a:defRPr sz="1100" b="1">
                <a:solidFill>
                  <a:srgbClr val="8B949E"/>
                </a:solidFill>
              </a:defRPr>
            </a:pPr>
            <a:r>
              <a:t>其他新兴模型 (8次 / 8.6%)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└ Google Vertex (2), 字节跳动 (2), Mistral (1), Duck (2)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34640"/>
            <a:ext cx="5059375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99232"/>
            <a:ext cx="46936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高商业价值洞察：用户端实时 Agent 调用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为什么这些数据极其宝贵？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37560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500"/>
              </a:spcBef>
              <a:defRPr sz="1100" b="1">
                <a:solidFill>
                  <a:srgbClr val="F59E0B"/>
                </a:solidFill>
              </a:defRPr>
            </a:pPr>
            <a:r>
              <a:t>★ 真实用户在对话中引用</a:t>
            </a:r>
          </a:p>
          <a:p>
            <a:pPr>
              <a:defRPr sz="900">
                <a:solidFill>
                  <a:srgbClr val="F0F6FC"/>
                </a:solidFill>
              </a:defRPr>
            </a:pPr>
            <a:r>
              <a:t>   ChatGPT-User (16)、Claude-User (7)、Perplexity-User (7) 均代表真实用户在与 AI 对话时，要求 AI 实时浏览总结本站内容。</a:t>
            </a:r>
          </a:p>
          <a:p>
            <a:pPr>
              <a:spcBef>
                <a:spcPts val="500"/>
              </a:spcBef>
              <a:defRPr sz="1100" b="1">
                <a:solidFill>
                  <a:srgbClr val="F59E0B"/>
                </a:solidFill>
              </a:defRPr>
            </a:pPr>
            <a:r>
              <a:t>★ 语义搜索引擎收录（GEO）</a:t>
            </a:r>
          </a:p>
          <a:p>
            <a:pPr>
              <a:defRPr sz="900">
                <a:solidFill>
                  <a:srgbClr val="F0F6FC"/>
                </a:solidFill>
              </a:defRPr>
            </a:pPr>
            <a:r>
              <a:t>   OAI-SearchBot (14) 与 Claude-SearchBot (7) 是最新一代 AI 搜索引擎的主力蜘蛛，代表本站已被纳入下一代 AI 搜索索引库。</a:t>
            </a:r>
          </a:p>
          <a:p>
            <a:pPr>
              <a:spcBef>
                <a:spcPts val="500"/>
              </a:spcBef>
              <a:defRPr sz="1100" b="1">
                <a:solidFill>
                  <a:srgbClr val="F59E0B"/>
                </a:solidFill>
              </a:defRPr>
            </a:pPr>
            <a:r>
              <a:t>★ 下一阶段优化行动</a:t>
            </a:r>
          </a:p>
          <a:p>
            <a:pPr>
              <a:defRPr sz="900">
                <a:solidFill>
                  <a:srgbClr val="F0F6FC"/>
                </a:solidFill>
              </a:defRPr>
            </a:pPr>
            <a:r>
              <a:t>   建议增强文章与公众号的 JSON-LD 结构化标签，让 AI 引擎能够以更高置信度提取公众号简介与分类，抢占 GEO 流量红利。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NETWORK COMPOSITION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全站请求属性对比：真人浏览与机器流量并存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源站接收的 4,597 次请求类型分布与健康度评估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5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7C160"/>
                </a:solidFill>
              </a:defRPr>
            </a:pPr>
            <a:r>
              <a:t>浏览器真实请求   |   2,858 次请求   (62.2%)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行为特征：由用户浏览器发起的主文档与动态资源加载，保障用户体验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8B949E"/>
                </a:solidFill>
              </a:defRPr>
            </a:pPr>
            <a:r>
              <a:t>其他 / 未知探测   |   888 次请求   (19.3%)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行为特征：互联网背景噪音、安全扫描器、无指纹探测（已被网关安全隔离）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传统爬虫抓取   |   407 次请求   (8.9%)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行为特征：Googlebot、SofyaBot、Yandex、Baiduspider、Applebot 等搜索收录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自动化 / HTTP工具   |   312 次请求   (6.8%)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行为特征：开发调试与接口调用 (curl 191次、Go-http 80次、python 5次)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30368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已识别 AI 爬虫   |   93 次请求   (2.0%)</a:t>
            </a:r>
          </a:p>
          <a:p>
            <a:pPr>
              <a:spcBef>
                <a:spcPts val="200"/>
              </a:spcBef>
              <a:defRPr sz="950">
                <a:solidFill>
                  <a:srgbClr val="8B949E"/>
                </a:solidFill>
              </a:defRPr>
            </a:pPr>
            <a:r>
              <a:t>行为特征：前沿大模型与智能体检索索引专用流量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AUDIENCE &amp; PLATFORM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访客终端画像：桌面开发者主导，极客作息明显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操作系统、浏览器分布及 24 小时访问活跃峰值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6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操作系统分布 (OS)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PC 桌面端占 83.2% 绝对主力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• Windows   409 Hits  (54.0%)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• macOS     221 Hits  (29.2%)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Android    97 Hits  (12.8%)</a:t>
            </a:r>
          </a:p>
          <a:p>
            <a:pPr>
              <a:spcBef>
                <a:spcPts val="600"/>
              </a:spcBef>
              <a:defRPr sz="1100" b="1">
                <a:solidFill>
                  <a:srgbClr val="A855F7"/>
                </a:solidFill>
              </a:defRPr>
            </a:pPr>
            <a:r>
              <a:t>• Linux      14 Hits  (1.8%)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• iOS         5 Hits  (0.7%)</a:t>
            </a:r>
          </a:p>
          <a:p>
            <a:pPr>
              <a:spcBef>
                <a:spcPts val="600"/>
              </a:spcBef>
              <a:defRPr sz="1100" b="1">
                <a:solidFill>
                  <a:srgbClr val="8B949E"/>
                </a:solidFill>
              </a:defRPr>
            </a:pPr>
            <a:r>
              <a:t>• Others     11 Hits  (1.5%)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浏览器分布 (Browser)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Chrome 系占据垄断地位 (96.1%)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07C160"/>
                </a:solidFill>
              </a:defRPr>
            </a:pPr>
            <a:r>
              <a:t>• Google Chrome 636 Hits  (84.0%)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• Microsoft Edge  92 Hits  (12.1%)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Apple Safari  15 Hits  (2.0%)</a:t>
            </a:r>
          </a:p>
          <a:p>
            <a:pPr>
              <a:spcBef>
                <a:spcPts val="800"/>
              </a:spcBef>
              <a:defRPr sz="1100" b="1">
                <a:solidFill>
                  <a:srgbClr val="A855F7"/>
                </a:solidFill>
              </a:defRPr>
            </a:pPr>
            <a:r>
              <a:t>• Mozilla Firefox   3 Hits  (0.4%)</a:t>
            </a:r>
          </a:p>
          <a:p>
            <a:pPr>
              <a:spcBef>
                <a:spcPts val="800"/>
              </a:spcBef>
              <a:defRPr sz="1100" b="1">
                <a:solidFill>
                  <a:srgbClr val="8B949E"/>
                </a:solidFill>
              </a:defRPr>
            </a:pPr>
            <a:r>
              <a:t>• 其他移动内核        11 Hits  (1.5%)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24 小时活跃作息规律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典型技术极客与白领作息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★ 午间高峰 (11:00)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单小时 132 次访问，全天最高峰，反映下班前与午休浏览习惯。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★ 午后活跃 (16:00 - 17:00)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累计 172 次访问，典型下午茶/深度调研工作时段。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★ 夜间延伸 (22:00 - 23:00)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累计 73 次访问，技术人员晚间业余学习与探索。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★ 受众典型画像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以一线城市程序员、产品经理、AI 研究员与自媒体从业者为主，高使用 Mac/PC 办公。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GEOGRAPHY FOOTPRINT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访客地理热力：立足大中华，辐射硅谷与亚太枢纽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基于 Cloudflare 可信 IP 归属统计，涵盖国内经济高地与海外技术节点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7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国家 / 地区分布 (Top Regions)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按浏览器 PV 排序 (国内 33.9% + 香港 21.7%)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07C160"/>
                </a:solidFill>
              </a:defRPr>
            </a:pPr>
            <a:r>
              <a:t>• 中国大陆 (CN)    257 PV (33.9%)   [HTTP: 188]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• 中国香港 (HK)    164 PV (21.7%)   [HTTP: 196]</a:t>
            </a:r>
          </a:p>
          <a:p>
            <a:pPr>
              <a:spcBef>
                <a:spcPts val="800"/>
              </a:spcBef>
              <a:defRPr sz="1100" b="1">
                <a:solidFill>
                  <a:srgbClr val="A855F7"/>
                </a:solidFill>
              </a:defRPr>
            </a:pPr>
            <a:r>
              <a:t>• 美国 (US)      157 PV (20.7%)   [HTTP: 585]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日本 (JP)       76 PV (10.0%)   [HTTP: 68]</a:t>
            </a:r>
          </a:p>
          <a:p>
            <a:pPr>
              <a:spcBef>
                <a:spcPts val="800"/>
              </a:spcBef>
              <a:defRPr sz="1100" b="1">
                <a:solidFill>
                  <a:srgbClr val="F0F6FC"/>
                </a:solidFill>
              </a:defRPr>
            </a:pPr>
            <a:r>
              <a:t>• 新加坡 (SG)      67 PV (8.9%)   [HTTP: 104]</a:t>
            </a:r>
          </a:p>
          <a:p>
            <a:pPr>
              <a:spcBef>
                <a:spcPts val="800"/>
              </a:spcBef>
              <a:defRPr sz="1100" b="1">
                <a:solidFill>
                  <a:srgbClr val="8B949E"/>
                </a:solidFill>
              </a:defRPr>
            </a:pPr>
            <a:r>
              <a:t>• 中国台湾 (TW)     15 PV (2.0%)   [HTTP: 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33695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27632"/>
            <a:ext cx="49679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核心城市排行与节点特征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高新经济核心区聚集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Hong Kong (香港) · 97 PV (12.8%) — 亚太重要金融与资讯中枢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上海 (Shanghai) · 83 PV (11.0%) — 国内第一大用户聚集城市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Tokyo (东京) · 76 PV (10.0%) — 海外华人与日本技术圈层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Singapore (新加坡) · 66 PV (8.7%) — 东南亚科技与出海华人核心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Los Angeles (洛杉矶) · 64 PV (8.5%) — 北美西海岸与硅谷辐射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San Jose (圣何塞) · 48 PV (6.3%) — 硅谷腹地高科技开发者密集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广州 (Guangzhou) · 45 PV (5.9%) — 华南微信大本营与珠三角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南京 (Nanjing) · 31 PV (4.1%) — 长三角高校与软件研发重镇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北京 (Beijing) · 22 PV (2.9%) — 互联网大厂与AI创业核心区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CONTENT PREFERENCES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内容偏好热力：科技垂类独占鳌头，发现与排行居前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各页面浏览量与垂直分类受众偏好拆解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8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核心功能页面排行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首页领跑，发现与排行转化率高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• /wechat (主页)   223 次 (29.5%)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核心门户入口，承接全站初次流量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• /wechat/discover (发现)   98 次 (12.9%)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探索推荐公众号的核心聚合流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• /wechat/rankings (排行榜)   78 次 (10.3%)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权威榜单与头部优质号发现</a:t>
            </a:r>
          </a:p>
          <a:p>
            <a:pPr>
              <a:spcBef>
                <a:spcPts val="600"/>
              </a:spcBef>
              <a:defRPr sz="1100" b="1">
                <a:solidFill>
                  <a:srgbClr val="A855F7"/>
                </a:solidFill>
              </a:defRPr>
            </a:pPr>
            <a:r>
              <a:t>• /wechat/search (搜索功能)   43 次 (5.7%)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主动意图明确的公众号精准检索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• /wechat/categories (分类总览)   29 次 (3.8%)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按领域系统化探寻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33695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27632"/>
            <a:ext cx="49679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行业垂类关注度热力榜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科技遥遥领先，财经与生活并重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1. 科技 (Category ID 1)   80 Views  (45.7%)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洞察：绝对主力！极客与开发者对科技类公众号需求旺盛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2. 财经 (Category ID 18)   40 Views  (22.9%)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洞察：宏观经济、商业与投资领域第二大关注赛道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3. 生活 (Category ID 46)   30 Views  (17.1%)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洞察：健康、文化、阅读等泛生活方式内容</a:t>
            </a:r>
          </a:p>
          <a:p>
            <a:pPr>
              <a:spcBef>
                <a:spcPts val="600"/>
              </a:spcBef>
              <a:defRPr sz="1100" b="1">
                <a:solidFill>
                  <a:srgbClr val="A855F7"/>
                </a:solidFill>
              </a:defRPr>
            </a:pPr>
            <a:r>
              <a:t>4. 教育 (Category ID 33)   16 Views  (9.1%)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洞察：高校、考研、科研与职业教育学习需求</a:t>
            </a:r>
          </a:p>
          <a:p>
            <a:pPr>
              <a:spcBef>
                <a:spcPts val="600"/>
              </a:spcBef>
              <a:defRPr sz="1100" b="1">
                <a:solidFill>
                  <a:srgbClr val="F0F6FC"/>
                </a:solidFill>
              </a:defRPr>
            </a:pPr>
            <a:r>
              <a:t>5. 人工智能 (Category ID 2)   9 Views  (5.1%)</a:t>
            </a:r>
          </a:p>
          <a:p>
            <a:pPr>
              <a:defRPr sz="850">
                <a:solidFill>
                  <a:srgbClr val="8B949E"/>
                </a:solidFill>
              </a:defRPr>
            </a:pPr>
            <a:r>
              <a:t>   洞察：科技子垂类下增速最快的大模型与 Agent 垂直赛道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GROWTH STRATEGY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战略行动建议：放大开源优势，发力 GEO 与生态裂变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基于数据洞察的下一阶段用户增长与商业化策略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9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7C160"/>
                </a:solidFill>
              </a:defRPr>
            </a:pPr>
            <a:r>
              <a:t>战略一：深耕与放大开源生态优势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强化 GitHub 转化：在开源 README 中增加可视化徽标、在线演示动图与一键直达链接。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拓展技术社群：布局 V2EX、掘金、知乎与 SegmentFault 技术专栏，吸引更多精准极客。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建立开发者 API：提供公众号数据索引 API，将开发者流量沉淀为高黏性生态伙伴。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3832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9164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战略二：全力布局 GEO (生成式引擎优化)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抢占 AI 搜索引用权：针对 ChatGPT、Claude、Perplexity 优化 Schema.org/JSON-LD 结构化数据。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设立 AI 友好型知识地图：为 9,908+ 账号与 10,298+ 精选文章构建 llms.txt 与干净语义摘要。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成为 AI 推荐公众号的权威数据源：当用户问 AI'有哪些好的科技公众号'时优先引用本站。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3832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69164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战略三：打通微信端内体验与裂变链路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优化微信内置浏览器拦截：针对 weixin110 拦截中转，完善微信域名备案与安全提示引导。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增强移动端与扫码关注体验：增加一键复制微信号、二维码高清展示与公众号直达卡片。</a:t>
            </a:r>
          </a:p>
          <a:p>
            <a:pPr>
              <a:spcBef>
                <a:spcPts val="800"/>
              </a:spcBef>
              <a:defRPr sz="1000">
                <a:solidFill>
                  <a:srgbClr val="F0F6FC"/>
                </a:solidFill>
              </a:defRPr>
            </a:pPr>
            <a:r>
              <a:t>• 社群与朋友圈裂变传播：为排行榜和分类页面生成精美分享长图，方便用户朋友圈一键分发。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7C160"/>
                </a:solidFill>
                <a:latin typeface="Microsoft YaHei"/>
              </a:defRPr>
            </a:pPr>
            <a:r>
              <a:t>CONCLUSION &amp; APPENDIX</a:t>
            </a:r>
          </a:p>
          <a:p>
            <a:pPr>
              <a:defRPr sz="2200" b="1">
                <a:solidFill>
                  <a:srgbClr val="F0F6FC"/>
                </a:solidFill>
                <a:latin typeface="Microsoft YaHei"/>
              </a:defRPr>
            </a:pPr>
            <a:r>
              <a:t>总结与技术指标说明</a:t>
            </a:r>
          </a:p>
          <a:p>
            <a:pPr>
              <a:spcBef>
                <a:spcPts val="300"/>
              </a:spcBef>
              <a:defRPr sz="1100">
                <a:solidFill>
                  <a:srgbClr val="8B949E"/>
                </a:solidFill>
                <a:latin typeface="Microsoft YaHei"/>
              </a:defRPr>
            </a:pPr>
            <a:r>
              <a:t>监控体系架构、统计口径与实时监控入口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E7681"/>
                </a:solidFill>
                <a:latin typeface="Microsoft YaHei"/>
              </a:defRPr>
            </a:pPr>
            <a:r>
              <a:t>WeChat Source · 流量来源与受众全景分析   |   数据引擎：GoAccess 1.12 &amp; Cloudflare Geo   |   第 10 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核心结论总结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WeChat Source 核心价值验证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✔ 冷启动极其成功：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监控上线仅数天，单日独立访客突破 67 UV，日 PV 达 375 次，具备强劲的自然生命力。</a:t>
            </a:r>
          </a:p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✔ 受众画像高度垂直精准：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以一线城市（沪广京宁）及海外高技术节点（硅谷、港、日、新）开发者与产品经理为主。</a:t>
            </a:r>
          </a:p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✔ AI 智能体新物种机遇显著：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93 次前沿大模型调用与真实用户检索证明本站在 AI 时代的语义基础设施价值。</a:t>
            </a:r>
          </a:p>
          <a:p>
            <a:pPr>
              <a:spcBef>
                <a:spcPts val="600"/>
              </a:spcBef>
              <a:defRPr sz="1100" b="1">
                <a:solidFill>
                  <a:srgbClr val="07C160"/>
                </a:solidFill>
              </a:defRPr>
            </a:pPr>
            <a:r>
              <a:t>✔ 未来增长可期：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通过 GitHub 矩阵拓展 + GEO 引擎优化 + 微信生态闭环，流量具备十倍爆发潜能。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33695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27632"/>
            <a:ext cx="49679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0F6FC"/>
                </a:solidFill>
                <a:latin typeface="Microsoft YaHei"/>
              </a:defRPr>
            </a:pPr>
            <a:r>
              <a:t>技术指标与监控架构说明</a:t>
            </a:r>
          </a:p>
          <a:p>
            <a:pPr>
              <a:spcBef>
                <a:spcPts val="200"/>
              </a:spcBef>
              <a:defRPr sz="900">
                <a:solidFill>
                  <a:srgbClr val="38BDF8"/>
                </a:solidFill>
                <a:latin typeface="Microsoft YaHei"/>
              </a:defRPr>
            </a:pPr>
            <a:r>
              <a:t>GoAccess 1.12 + Cloudflare Geo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★ 双通道独立探针：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私有 HTTP 网关日志（全量请求与爬虫）与匿名浏览器探针（真实用户 PV/UV）并行统计。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★ 隐私安全与合规：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遵循 GDPR/数据安全标准，不采集真实 GPS/经纬度，不记录具体 IP，不保留搜索词/URL Query。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★ 实时更新与保留：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系统按北京时间每分钟聚合生成报表，数据滚动保留 30 天。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★ 线上监控管理入口：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   https://wechat.aim888888.xyz/traffic (管理员独立鉴权看板与 GoAccess 详细报告)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